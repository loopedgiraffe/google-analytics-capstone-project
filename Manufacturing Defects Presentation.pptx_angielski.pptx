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903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40398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" sz="4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Defects Analysis</a:t>
            </a:r>
            <a:endParaRPr lang="en-US" sz="4500"/>
          </a:p>
        </p:txBody>
      </p:sp>
      <p:sp>
        <p:nvSpPr>
          <p:cNvPr id="4" name="Text 1"/>
          <p:cNvSpPr/>
          <p:nvPr/>
        </p:nvSpPr>
        <p:spPr>
          <a:xfrm>
            <a:off x="2271491" y="2927985"/>
            <a:ext cx="4601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" sz="180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Dashboard &amp; 8D Root Cause Project</a:t>
            </a:r>
            <a:endParaRPr lang="en-US" sz="1800"/>
          </a:p>
        </p:txBody>
      </p:sp>
      <p:sp>
        <p:nvSpPr>
          <p:cNvPr id="5" name="Text 2"/>
          <p:cNvSpPr/>
          <p:nvPr/>
        </p:nvSpPr>
        <p:spPr>
          <a:xfrm>
            <a:off x="2970278" y="3552825"/>
            <a:ext cx="3203443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" sz="105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Data Analyst Portfolio | PL | Feb 2026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49680"/>
            <a:ext cx="7924800" cy="1377672"/>
          </a:xfrm>
          <a:prstGeom prst="roundRect">
            <a:avLst>
              <a:gd name="adj" fmla="val 79647"/>
            </a:avLst>
          </a:prstGeom>
          <a:solidFill>
            <a:srgbClr val="FFFFFF">
              <a:alpha val="95000"/>
            </a:srgbClr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9600" y="2627352"/>
            <a:ext cx="7924800" cy="1377672"/>
          </a:xfrm>
          <a:prstGeom prst="roundRect">
            <a:avLst>
              <a:gd name="adj" fmla="val 79647"/>
            </a:avLst>
          </a:prstGeom>
          <a:solidFill>
            <a:srgbClr val="FFFFFF">
              <a:alpha val="95000"/>
            </a:srgbClr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4309825"/>
            <a:ext cx="7924800" cy="697230"/>
          </a:xfrm>
          <a:prstGeom prst="roundRect">
            <a:avLst>
              <a:gd name="adj" fmla="val 104918"/>
            </a:avLst>
          </a:prstGeom>
          <a:solidFill>
            <a:srgbClr val="0F172A">
              <a:alpha val="8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" sz="2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Executive Summary</a:t>
            </a:r>
            <a:endParaRPr lang="en-US" sz="2700"/>
          </a:p>
        </p:txBody>
      </p:sp>
      <p:sp>
        <p:nvSpPr>
          <p:cNvPr id="7" name="Text 4"/>
          <p:cNvSpPr/>
          <p:nvPr/>
        </p:nvSpPr>
        <p:spPr>
          <a:xfrm>
            <a:off x="914400" y="1554480"/>
            <a:ext cx="7461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" sz="3000" b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3000"/>
          </a:p>
        </p:txBody>
      </p:sp>
      <p:sp>
        <p:nvSpPr>
          <p:cNvPr id="8" name="Text 5"/>
          <p:cNvSpPr/>
          <p:nvPr/>
        </p:nvSpPr>
        <p:spPr>
          <a:xfrm>
            <a:off x="914400" y="2087880"/>
            <a:ext cx="7461504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" sz="132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defects</a:t>
            </a:r>
            <a:endParaRPr lang="en-US" sz="1320"/>
          </a:p>
        </p:txBody>
      </p:sp>
      <p:sp>
        <p:nvSpPr>
          <p:cNvPr id="9" name="Text 6"/>
          <p:cNvSpPr/>
          <p:nvPr/>
        </p:nvSpPr>
        <p:spPr>
          <a:xfrm>
            <a:off x="914400" y="2932152"/>
            <a:ext cx="7461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" sz="3000" b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15k PLN</a:t>
            </a:r>
            <a:endParaRPr lang="en-US" sz="3000"/>
          </a:p>
        </p:txBody>
      </p:sp>
      <p:sp>
        <p:nvSpPr>
          <p:cNvPr id="10" name="Text 7"/>
          <p:cNvSpPr/>
          <p:nvPr/>
        </p:nvSpPr>
        <p:spPr>
          <a:xfrm>
            <a:off x="914400" y="3465552"/>
            <a:ext cx="7461504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" sz="132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Losses/month</a:t>
            </a:r>
            <a:endParaRPr lang="en-US" sz="1320"/>
          </a:p>
        </p:txBody>
      </p:sp>
      <p:sp>
        <p:nvSpPr>
          <p:cNvPr id="11" name="Text 8"/>
          <p:cNvSpPr/>
          <p:nvPr/>
        </p:nvSpPr>
        <p:spPr>
          <a:xfrm>
            <a:off x="838200" y="4538424"/>
            <a:ext cx="761695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" sz="13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</a:t>
            </a:r>
            <a:r>
              <a:rPr lang="en" sz="13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Python, SQL, Tableau, 8D Methodology</a:t>
            </a:r>
            <a:endParaRPr lang="en-US" sz="1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005067"/>
            <a:ext cx="7924800" cy="946427"/>
          </a:xfrm>
          <a:prstGeom prst="roundRect">
            <a:avLst>
              <a:gd name="adj" fmla="val 8108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9600" y="2073415"/>
            <a:ext cx="7924800" cy="1127760"/>
          </a:xfrm>
          <a:prstGeom prst="roundRect">
            <a:avLst>
              <a:gd name="adj" fmla="val 8108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67790" y="3265171"/>
            <a:ext cx="7924800" cy="937341"/>
          </a:xfrm>
          <a:prstGeom prst="roundRect">
            <a:avLst>
              <a:gd name="adj" fmla="val 8108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3524" y="4311434"/>
            <a:ext cx="7924800" cy="691872"/>
          </a:xfrm>
          <a:prstGeom prst="roundRect">
            <a:avLst>
              <a:gd name="adj" fmla="val 13216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" sz="2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Dataset Overview</a:t>
            </a:r>
            <a:endParaRPr lang="en-US" sz="2700"/>
          </a:p>
        </p:txBody>
      </p:sp>
      <p:sp>
        <p:nvSpPr>
          <p:cNvPr id="8" name="Text 5"/>
          <p:cNvSpPr/>
          <p:nvPr/>
        </p:nvSpPr>
        <p:spPr>
          <a:xfrm>
            <a:off x="763524" y="1143001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" sz="30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38200" y="1613444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3524" y="2302015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" sz="3000" b="1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days</a:t>
            </a:r>
            <a:endParaRPr lang="en-US" sz="3000"/>
          </a:p>
        </p:txBody>
      </p:sp>
      <p:sp>
        <p:nvSpPr>
          <p:cNvPr id="11" name="Text 8"/>
          <p:cNvSpPr/>
          <p:nvPr/>
        </p:nvSpPr>
        <p:spPr>
          <a:xfrm>
            <a:off x="763524" y="2759215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" sz="120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Oct-Nov 2025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763524" y="3385051"/>
            <a:ext cx="7616952" cy="380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" sz="30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63524" y="3830868"/>
            <a:ext cx="7616952" cy="177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20724" y="4604030"/>
            <a:ext cx="7616952" cy="23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" sz="132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Shifts:</a:t>
            </a:r>
            <a:r>
              <a:rPr lang="en" sz="132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 (42%) • Evening (29%) • Night (29%)</a:t>
            </a:r>
            <a:endParaRPr lang="en-US" sz="13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021080"/>
            <a:ext cx="7924800" cy="1367790"/>
          </a:xfrm>
          <a:prstGeom prst="roundRect">
            <a:avLst>
              <a:gd name="adj" fmla="val 68900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9600" y="2529840"/>
            <a:ext cx="7924800" cy="1367790"/>
          </a:xfrm>
          <a:prstGeom prst="roundRect">
            <a:avLst>
              <a:gd name="adj" fmla="val 68900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3946524"/>
            <a:ext cx="7924800" cy="986790"/>
          </a:xfrm>
          <a:prstGeom prst="roundRect">
            <a:avLst>
              <a:gd name="adj" fmla="val 74131"/>
            </a:avLst>
          </a:prstGeom>
          <a:solidFill>
            <a:srgbClr val="000000">
              <a:alpha val="2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" sz="2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 Finding #1: Night Shift Crisis</a:t>
            </a:r>
            <a:endParaRPr lang="en-US" sz="2700"/>
          </a:p>
        </p:txBody>
      </p:sp>
      <p:sp>
        <p:nvSpPr>
          <p:cNvPr id="7" name="Text 4"/>
          <p:cNvSpPr/>
          <p:nvPr/>
        </p:nvSpPr>
        <p:spPr>
          <a:xfrm>
            <a:off x="841248" y="1325880"/>
            <a:ext cx="7461504" cy="54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" sz="4200" b="1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41248" y="2042159"/>
            <a:ext cx="7461504" cy="2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shift defects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2834640"/>
            <a:ext cx="7461504" cy="54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" sz="4200" b="1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624 PLN</a:t>
            </a:r>
            <a:endParaRPr lang="en-US" sz="4200"/>
          </a:p>
        </p:txBody>
      </p:sp>
      <p:sp>
        <p:nvSpPr>
          <p:cNvPr id="10" name="Text 7"/>
          <p:cNvSpPr/>
          <p:nvPr/>
        </p:nvSpPr>
        <p:spPr>
          <a:xfrm>
            <a:off x="841248" y="3550921"/>
            <a:ext cx="7461504" cy="2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cost</a:t>
            </a:r>
            <a:endParaRPr lang="en-US" sz="1500"/>
          </a:p>
        </p:txBody>
      </p:sp>
      <p:sp>
        <p:nvSpPr>
          <p:cNvPr id="11" name="Text 8"/>
          <p:cNvSpPr/>
          <p:nvPr/>
        </p:nvSpPr>
        <p:spPr>
          <a:xfrm>
            <a:off x="996696" y="4168140"/>
            <a:ext cx="761695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" sz="13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</a:t>
            </a:r>
            <a:r>
              <a:rPr lang="en" sz="13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Fatigue + Machine Calibration Drift</a:t>
            </a:r>
            <a:endParaRPr lang="en-US" sz="1350"/>
          </a:p>
        </p:txBody>
      </p:sp>
      <p:sp>
        <p:nvSpPr>
          <p:cNvPr id="12" name="Text 9"/>
          <p:cNvSpPr/>
          <p:nvPr/>
        </p:nvSpPr>
        <p:spPr>
          <a:xfrm>
            <a:off x="996696" y="4484369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20.8% High Severity defects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49680"/>
            <a:ext cx="7924800" cy="123063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9600" y="2480311"/>
            <a:ext cx="7924800" cy="720804"/>
          </a:xfrm>
          <a:prstGeom prst="roundRect">
            <a:avLst>
              <a:gd name="adj" fmla="val 10148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3315414"/>
            <a:ext cx="7924800" cy="720804"/>
          </a:xfrm>
          <a:prstGeom prst="roundRect">
            <a:avLst>
              <a:gd name="adj" fmla="val 10148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9600" y="4150519"/>
            <a:ext cx="7924800" cy="720804"/>
          </a:xfrm>
          <a:prstGeom prst="roundRect">
            <a:avLst>
              <a:gd name="adj" fmla="val 10148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" sz="2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#2: Pareto Analysis</a:t>
            </a:r>
            <a:endParaRPr lang="en-US" sz="2700"/>
          </a:p>
        </p:txBody>
      </p:sp>
      <p:sp>
        <p:nvSpPr>
          <p:cNvPr id="8" name="Text 5"/>
          <p:cNvSpPr/>
          <p:nvPr/>
        </p:nvSpPr>
        <p:spPr>
          <a:xfrm>
            <a:off x="876300" y="1478280"/>
            <a:ext cx="7578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" sz="3000" b="1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71.7%</a:t>
            </a:r>
            <a:endParaRPr lang="en-US" sz="3000"/>
          </a:p>
        </p:txBody>
      </p:sp>
      <p:sp>
        <p:nvSpPr>
          <p:cNvPr id="9" name="Text 6"/>
          <p:cNvSpPr/>
          <p:nvPr/>
        </p:nvSpPr>
        <p:spPr>
          <a:xfrm>
            <a:off x="876300" y="2011680"/>
            <a:ext cx="75780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" sz="13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defects = total costs</a:t>
            </a:r>
            <a:endParaRPr lang="en-US" sz="1350"/>
          </a:p>
        </p:txBody>
      </p:sp>
      <p:sp>
        <p:nvSpPr>
          <p:cNvPr id="10" name="Text 7"/>
          <p:cNvSpPr/>
          <p:nvPr/>
        </p:nvSpPr>
        <p:spPr>
          <a:xfrm>
            <a:off x="762000" y="2632711"/>
            <a:ext cx="7772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b="1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Misalignment: 29.7%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762000" y="2846070"/>
            <a:ext cx="777240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" sz="114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184,379 PLN</a:t>
            </a:r>
            <a:endParaRPr lang="en-US" sz="1140"/>
          </a:p>
        </p:txBody>
      </p:sp>
      <p:sp>
        <p:nvSpPr>
          <p:cNvPr id="12" name="Text 9"/>
          <p:cNvSpPr/>
          <p:nvPr/>
        </p:nvSpPr>
        <p:spPr>
          <a:xfrm>
            <a:off x="762000" y="3467814"/>
            <a:ext cx="7772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b="1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Contamination: 22.5%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762000" y="3681175"/>
            <a:ext cx="777240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" sz="114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139,846 PLN</a:t>
            </a:r>
            <a:endParaRPr lang="en-US" sz="1140"/>
          </a:p>
        </p:txBody>
      </p:sp>
      <p:sp>
        <p:nvSpPr>
          <p:cNvPr id="14" name="Text 11"/>
          <p:cNvSpPr/>
          <p:nvPr/>
        </p:nvSpPr>
        <p:spPr>
          <a:xfrm>
            <a:off x="762000" y="4302919"/>
            <a:ext cx="7772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b="1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Torque Error: 19.5%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762000" y="4516280"/>
            <a:ext cx="7772400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" sz="114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120,913 PLN</a:t>
            </a:r>
            <a:endParaRPr lang="en-US" sz="114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128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9976" y="1097281"/>
            <a:ext cx="7924800" cy="737597"/>
          </a:xfrm>
          <a:prstGeom prst="roundRect">
            <a:avLst>
              <a:gd name="adj" fmla="val 64810"/>
            </a:avLst>
          </a:prstGeom>
          <a:solidFill>
            <a:srgbClr val="FFFFFF">
              <a:alpha val="90000"/>
            </a:srgbClr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69976" y="1907573"/>
            <a:ext cx="7924800" cy="737597"/>
          </a:xfrm>
          <a:prstGeom prst="roundRect">
            <a:avLst>
              <a:gd name="adj" fmla="val 64810"/>
            </a:avLst>
          </a:prstGeom>
          <a:solidFill>
            <a:srgbClr val="FFFFFF">
              <a:alpha val="90000"/>
            </a:srgbClr>
          </a:solidFill>
          <a:ln/>
          <a:effectLst>
            <a:outerShdw blurRad="114300" dist="38100" dir="5400000" algn="bl" rotWithShape="0">
              <a:srgbClr val="000000">
                <a:alpha val="15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2745768"/>
            <a:ext cx="7924800" cy="835104"/>
          </a:xfrm>
          <a:prstGeom prst="roundRect">
            <a:avLst>
              <a:gd name="adj" fmla="val 87596"/>
            </a:avLst>
          </a:prstGeom>
          <a:solidFill>
            <a:srgbClr val="0F172A">
              <a:alpha val="8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9976" y="3657500"/>
            <a:ext cx="7924800" cy="835104"/>
          </a:xfrm>
          <a:prstGeom prst="roundRect">
            <a:avLst>
              <a:gd name="adj" fmla="val 87596"/>
            </a:avLst>
          </a:prstGeom>
          <a:solidFill>
            <a:srgbClr val="0F172A">
              <a:alpha val="8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Key Finding #3: Machine Performance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914400" y="1380957"/>
            <a:ext cx="746150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cost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2113471" y="1273827"/>
            <a:ext cx="7461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" sz="3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M002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485070" y="1321963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655 PLN/defective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2167655"/>
            <a:ext cx="746150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defects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2113471" y="2026440"/>
            <a:ext cx="7461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" sz="3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M004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485070" y="2085019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276 cases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4400" y="2963890"/>
            <a:ext cx="769467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M002 Action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3215351"/>
            <a:ext cx="7694676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" sz="114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maintenance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800100" y="3929561"/>
            <a:ext cx="769467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b="1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M004 Action</a:t>
            </a:r>
            <a:endParaRPr lang="en-US" sz="1200"/>
          </a:p>
        </p:txBody>
      </p:sp>
      <p:sp>
        <p:nvSpPr>
          <p:cNvPr id="17" name="Text 14"/>
          <p:cNvSpPr/>
          <p:nvPr/>
        </p:nvSpPr>
        <p:spPr>
          <a:xfrm>
            <a:off x="800100" y="4181022"/>
            <a:ext cx="7694676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" sz="114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quality checks</a:t>
            </a:r>
            <a:endParaRPr lang="en-US" sz="114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49681"/>
            <a:ext cx="7924800" cy="670560"/>
          </a:xfrm>
          <a:prstGeom prst="roundRect">
            <a:avLst>
              <a:gd name="adj" fmla="val 89552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9600" y="1996441"/>
            <a:ext cx="7924800" cy="670560"/>
          </a:xfrm>
          <a:prstGeom prst="roundRect">
            <a:avLst>
              <a:gd name="adj" fmla="val 89552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9600" y="2727961"/>
            <a:ext cx="7924800" cy="670560"/>
          </a:xfrm>
          <a:prstGeom prst="roundRect">
            <a:avLst>
              <a:gd name="adj" fmla="val 89552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9600" y="3566161"/>
            <a:ext cx="7924800" cy="1021080"/>
          </a:xfrm>
          <a:prstGeom prst="roundRect">
            <a:avLst>
              <a:gd name="adj" fmla="val 89552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" sz="27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Cleaning Pipeline</a:t>
            </a:r>
            <a:endParaRPr lang="en-US" sz="2700"/>
          </a:p>
        </p:txBody>
      </p:sp>
      <p:sp>
        <p:nvSpPr>
          <p:cNvPr id="8" name="Text 5"/>
          <p:cNvSpPr/>
          <p:nvPr/>
        </p:nvSpPr>
        <p:spPr>
          <a:xfrm>
            <a:off x="876300" y="1478280"/>
            <a:ext cx="7578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" sz="1800" b="1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Outliers</a:t>
            </a:r>
            <a:endParaRPr lang="en-US" sz="1800"/>
          </a:p>
        </p:txBody>
      </p:sp>
      <p:sp>
        <p:nvSpPr>
          <p:cNvPr id="9" name="Text 6"/>
          <p:cNvSpPr/>
          <p:nvPr/>
        </p:nvSpPr>
        <p:spPr>
          <a:xfrm>
            <a:off x="2730038" y="1546859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 rule: 19 clipped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6300" y="2225041"/>
            <a:ext cx="7578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" sz="1800" b="1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Features</a:t>
            </a:r>
            <a:endParaRPr lang="en-US" sz="1800"/>
          </a:p>
        </p:txBody>
      </p:sp>
      <p:sp>
        <p:nvSpPr>
          <p:cNvPr id="11" name="Text 8"/>
          <p:cNvSpPr/>
          <p:nvPr/>
        </p:nvSpPr>
        <p:spPr>
          <a:xfrm>
            <a:off x="2730038" y="2293620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hour, day_of_week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6300" y="2956561"/>
            <a:ext cx="7578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" sz="1800" b="1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Quality</a:t>
            </a:r>
            <a:endParaRPr lang="en-US" sz="1800"/>
          </a:p>
        </p:txBody>
      </p:sp>
      <p:sp>
        <p:nvSpPr>
          <p:cNvPr id="13" name="Text 10"/>
          <p:cNvSpPr/>
          <p:nvPr/>
        </p:nvSpPr>
        <p:spPr>
          <a:xfrm>
            <a:off x="2730038" y="2895601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missing, 0 duplicates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3000" y="3726182"/>
            <a:ext cx="7578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" sz="1800" b="1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Validated</a:t>
            </a:r>
            <a:endParaRPr lang="en-US" sz="1800"/>
          </a:p>
        </p:txBody>
      </p:sp>
      <p:sp>
        <p:nvSpPr>
          <p:cNvPr id="15" name="Text 12"/>
          <p:cNvSpPr/>
          <p:nvPr/>
        </p:nvSpPr>
        <p:spPr>
          <a:xfrm>
            <a:off x="1143000" y="4076703"/>
            <a:ext cx="757809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clean records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1104" y="1208116"/>
            <a:ext cx="7924800" cy="3550920"/>
          </a:xfrm>
          <a:prstGeom prst="roundRect">
            <a:avLst>
              <a:gd name="adj" fmla="val 30901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" sz="27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Technical Implementation</a:t>
            </a:r>
            <a:endParaRPr lang="en-US" sz="2700"/>
          </a:p>
        </p:txBody>
      </p:sp>
      <p:sp>
        <p:nvSpPr>
          <p:cNvPr id="5" name="Text 2"/>
          <p:cNvSpPr/>
          <p:nvPr/>
        </p:nvSpPr>
        <p:spPr>
          <a:xfrm>
            <a:off x="914400" y="15544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" sz="1800" b="1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 Stack</a:t>
            </a:r>
            <a:endParaRPr lang="en-US" sz="1800"/>
          </a:p>
        </p:txBody>
      </p:sp>
      <p:sp>
        <p:nvSpPr>
          <p:cNvPr id="6" name="Text 3"/>
          <p:cNvSpPr/>
          <p:nvPr/>
        </p:nvSpPr>
        <p:spPr>
          <a:xfrm>
            <a:off x="914400" y="1905000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• NumPy • Matplotlib • Seaborn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914400" y="2346959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" sz="18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Database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697482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production queries (PostgreSQL)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914400" y="3139441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" sz="1800" b="1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Visualization</a:t>
            </a:r>
            <a:endParaRPr lang="en-US" sz="1800"/>
          </a:p>
        </p:txBody>
      </p:sp>
      <p:sp>
        <p:nvSpPr>
          <p:cNvPr id="10" name="Text 7"/>
          <p:cNvSpPr/>
          <p:nvPr/>
        </p:nvSpPr>
        <p:spPr>
          <a:xfrm>
            <a:off x="914400" y="3489959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Interactive Dashboards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914400" y="3931923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" sz="1800" b="1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Documentation</a:t>
            </a:r>
            <a:endParaRPr lang="en-US" sz="1800"/>
          </a:p>
        </p:txBody>
      </p:sp>
      <p:sp>
        <p:nvSpPr>
          <p:cNvPr id="12" name="Text 9"/>
          <p:cNvSpPr/>
          <p:nvPr/>
        </p:nvSpPr>
        <p:spPr>
          <a:xfrm>
            <a:off x="914400" y="4282441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9758"/>
            <a:ext cx="9144000" cy="5257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49682"/>
            <a:ext cx="7924800" cy="1235823"/>
          </a:xfrm>
          <a:prstGeom prst="roundRect">
            <a:avLst>
              <a:gd name="adj" fmla="val 6844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24662" y="2569429"/>
            <a:ext cx="7924800" cy="588266"/>
          </a:xfrm>
          <a:prstGeom prst="roundRect">
            <a:avLst>
              <a:gd name="adj" fmla="val 76800"/>
            </a:avLst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4734" y="3301088"/>
            <a:ext cx="7924800" cy="610208"/>
          </a:xfrm>
          <a:prstGeom prst="roundRect">
            <a:avLst>
              <a:gd name="adj" fmla="val 76800"/>
            </a:avLst>
          </a:prstGeom>
          <a:solidFill>
            <a:srgbClr val="EF4444">
              <a:alpha val="15000"/>
            </a:srgbClr>
          </a:solidFill>
          <a:ln w="15240">
            <a:solidFill>
              <a:srgbClr val="EF4444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" sz="27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Resolution Performance</a:t>
            </a:r>
            <a:endParaRPr lang="en-US" sz="2700"/>
          </a:p>
        </p:txBody>
      </p:sp>
      <p:sp>
        <p:nvSpPr>
          <p:cNvPr id="8" name="Text 5"/>
          <p:cNvSpPr/>
          <p:nvPr/>
        </p:nvSpPr>
        <p:spPr>
          <a:xfrm>
            <a:off x="841248" y="1333500"/>
            <a:ext cx="7461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buNone/>
            </a:pPr>
            <a:r>
              <a:rPr lang="en" sz="4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70.4%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841248" y="1976595"/>
            <a:ext cx="7461504" cy="27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84"/>
              </a:lnSpc>
              <a:buNone/>
            </a:pPr>
            <a:r>
              <a:rPr lang="en" sz="15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Resolution Rate</a:t>
            </a:r>
            <a:endParaRPr lang="en-US" sz="1560" dirty="0"/>
          </a:p>
        </p:txBody>
      </p:sp>
      <p:sp>
        <p:nvSpPr>
          <p:cNvPr id="10" name="Text 7"/>
          <p:cNvSpPr/>
          <p:nvPr/>
        </p:nvSpPr>
        <p:spPr>
          <a:xfrm>
            <a:off x="968502" y="2813270"/>
            <a:ext cx="758586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b="1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Best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1866276" y="2813270"/>
            <a:ext cx="758586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Fault: 73.2%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4131" y="3530832"/>
            <a:ext cx="758586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The worst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866276" y="3518242"/>
            <a:ext cx="758586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Misalignment: 67.6%</a:t>
            </a:r>
            <a:endParaRPr lang="en-US" sz="12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B3F8A8E2-99F2-370C-B68E-D272425E874C}"/>
              </a:ext>
            </a:extLst>
          </p:cNvPr>
          <p:cNvSpPr/>
          <p:nvPr/>
        </p:nvSpPr>
        <p:spPr>
          <a:xfrm>
            <a:off x="629564" y="4054689"/>
            <a:ext cx="7924800" cy="658297"/>
          </a:xfrm>
          <a:prstGeom prst="roundRect">
            <a:avLst>
              <a:gd name="adj" fmla="val 111123"/>
            </a:avLst>
          </a:prstGeom>
          <a:solidFill>
            <a:srgbClr val="0F172A">
              <a:alpha val="8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1808626-113F-BDEC-FD5D-620900C61683}"/>
              </a:ext>
            </a:extLst>
          </p:cNvPr>
          <p:cNvSpPr/>
          <p:nvPr/>
        </p:nvSpPr>
        <p:spPr>
          <a:xfrm>
            <a:off x="724662" y="4272371"/>
            <a:ext cx="7694676" cy="27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84"/>
              </a:lnSpc>
              <a:buNone/>
            </a:pPr>
            <a:r>
              <a:rPr lang="en" sz="156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 Q2 2026: 85%</a:t>
            </a:r>
            <a:endParaRPr lang="en-US" sz="1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676" y="27012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49680"/>
            <a:ext cx="7924800" cy="766527"/>
          </a:xfrm>
          <a:prstGeom prst="roundRect">
            <a:avLst>
              <a:gd name="adj" fmla="val 79476"/>
            </a:avLst>
          </a:prstGeom>
          <a:solidFill>
            <a:srgbClr val="FFFFFF">
              <a:alpha val="95000"/>
            </a:srgbClr>
          </a:solidFill>
          <a:ln/>
          <a:effectLst>
            <a:outerShdw blurRad="152400" dist="762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4924" y="2056569"/>
            <a:ext cx="7924800" cy="866044"/>
          </a:xfrm>
          <a:prstGeom prst="roundRect">
            <a:avLst>
              <a:gd name="adj" fmla="val 79476"/>
            </a:avLst>
          </a:prstGeom>
          <a:solidFill>
            <a:srgbClr val="FFFFFF">
              <a:alpha val="95000"/>
            </a:srgbClr>
          </a:solidFill>
          <a:ln/>
          <a:effectLst>
            <a:outerShdw blurRad="152400" dist="76200" dir="5400000" algn="bl" rotWithShape="0">
              <a:srgbClr val="000000">
                <a:alpha val="1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2995003"/>
            <a:ext cx="7924800" cy="766527"/>
          </a:xfrm>
          <a:prstGeom prst="roundRect">
            <a:avLst>
              <a:gd name="adj" fmla="val 66667"/>
            </a:avLst>
          </a:prstGeom>
          <a:solidFill>
            <a:srgbClr val="0F172A">
              <a:alpha val="8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33400" y="3854890"/>
            <a:ext cx="7924800" cy="1097280"/>
          </a:xfrm>
          <a:prstGeom prst="roundRect">
            <a:avLst>
              <a:gd name="adj" fmla="val 66667"/>
            </a:avLst>
          </a:prstGeom>
          <a:solidFill>
            <a:srgbClr val="0F172A">
              <a:alpha val="8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" sz="27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Financial Impact</a:t>
            </a:r>
            <a:endParaRPr lang="en-US" sz="2700"/>
          </a:p>
        </p:txBody>
      </p:sp>
      <p:sp>
        <p:nvSpPr>
          <p:cNvPr id="8" name="Text 5"/>
          <p:cNvSpPr/>
          <p:nvPr/>
        </p:nvSpPr>
        <p:spPr>
          <a:xfrm>
            <a:off x="841248" y="1321358"/>
            <a:ext cx="746150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Defect Cost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841248" y="1513287"/>
            <a:ext cx="7461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60"/>
              </a:lnSpc>
              <a:buNone/>
            </a:pPr>
            <a:r>
              <a:rPr lang="en" sz="3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620,911 PLN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920496" y="2112171"/>
            <a:ext cx="7461504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12"/>
              </a:lnSpc>
              <a:buNone/>
            </a:pPr>
            <a:r>
              <a:rPr lang="en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Savings (30%)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841248" y="2347302"/>
            <a:ext cx="7461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60"/>
              </a:lnSpc>
              <a:buNone/>
            </a:pPr>
            <a:r>
              <a:rPr lang="en" sz="3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186,273 PLN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841248" y="3035007"/>
            <a:ext cx="761695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" sz="2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41248" y="3436164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3524" y="3893820"/>
            <a:ext cx="761695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" sz="2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man.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63524" y="4316315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4662" y="1107281"/>
            <a:ext cx="7924800" cy="3950018"/>
          </a:xfrm>
          <a:prstGeom prst="roundRect">
            <a:avLst>
              <a:gd name="adj" fmla="val 27779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14400" y="1554482"/>
            <a:ext cx="7315200" cy="720804"/>
          </a:xfrm>
          <a:prstGeom prst="roundRect">
            <a:avLst>
              <a:gd name="adj" fmla="val 101487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2427684"/>
            <a:ext cx="7315200" cy="720804"/>
          </a:xfrm>
          <a:prstGeom prst="roundRect">
            <a:avLst>
              <a:gd name="adj" fmla="val 101487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3300892"/>
            <a:ext cx="7315200" cy="720804"/>
          </a:xfrm>
          <a:prstGeom prst="roundRect">
            <a:avLst>
              <a:gd name="adj" fmla="val 101487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4174094"/>
            <a:ext cx="7315200" cy="720804"/>
          </a:xfrm>
          <a:prstGeom prst="roundRect">
            <a:avLst>
              <a:gd name="adj" fmla="val 101487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" sz="27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Recommendations (8D Action Plan)</a:t>
            </a:r>
            <a:endParaRPr lang="en-US" sz="2700"/>
          </a:p>
        </p:txBody>
      </p:sp>
      <p:sp>
        <p:nvSpPr>
          <p:cNvPr id="9" name="Text 6"/>
          <p:cNvSpPr/>
          <p:nvPr/>
        </p:nvSpPr>
        <p:spPr>
          <a:xfrm>
            <a:off x="1104900" y="1706882"/>
            <a:ext cx="711174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Night Shift Enhancement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1104900" y="1920241"/>
            <a:ext cx="7111746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" sz="114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 + training program</a:t>
            </a:r>
            <a:endParaRPr lang="en-US" sz="1140"/>
          </a:p>
        </p:txBody>
      </p:sp>
      <p:sp>
        <p:nvSpPr>
          <p:cNvPr id="11" name="Text 8"/>
          <p:cNvSpPr/>
          <p:nvPr/>
        </p:nvSpPr>
        <p:spPr>
          <a:xfrm>
            <a:off x="1104900" y="2580084"/>
            <a:ext cx="711174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Focused QA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1104900" y="2793443"/>
            <a:ext cx="7111746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" sz="114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top 3 defect types (71.7% costs)</a:t>
            </a:r>
            <a:endParaRPr lang="en-US" sz="1140"/>
          </a:p>
        </p:txBody>
      </p:sp>
      <p:sp>
        <p:nvSpPr>
          <p:cNvPr id="13" name="Text 10"/>
          <p:cNvSpPr/>
          <p:nvPr/>
        </p:nvSpPr>
        <p:spPr>
          <a:xfrm>
            <a:off x="1104900" y="3453292"/>
            <a:ext cx="711174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M002 Maintenance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1104900" y="3666651"/>
            <a:ext cx="7111746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" sz="114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schedule implementation</a:t>
            </a:r>
            <a:endParaRPr lang="en-US" sz="1140"/>
          </a:p>
        </p:txBody>
      </p:sp>
      <p:sp>
        <p:nvSpPr>
          <p:cNvPr id="15" name="Text 12"/>
          <p:cNvSpPr/>
          <p:nvPr/>
        </p:nvSpPr>
        <p:spPr>
          <a:xfrm>
            <a:off x="1104900" y="4326494"/>
            <a:ext cx="711174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" sz="12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Real-Time Monitoring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1104900" y="4539853"/>
            <a:ext cx="7111746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" sz="114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dashboard deployment</a:t>
            </a:r>
            <a:endParaRPr lang="en-US" sz="1140"/>
          </a:p>
        </p:txBody>
      </p:sp>
      <p:sp>
        <p:nvSpPr>
          <p:cNvPr id="17" name="Text 14"/>
          <p:cNvSpPr/>
          <p:nvPr/>
        </p:nvSpPr>
        <p:spPr>
          <a:xfrm>
            <a:off x="530352" y="5352097"/>
            <a:ext cx="8083296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" sz="105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8D Problem Solving (Ford Motor Company)</a:t>
            </a:r>
            <a:endParaRPr lang="en-US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49682"/>
            <a:ext cx="7924800" cy="2858453"/>
          </a:xfrm>
          <a:prstGeom prst="roundRect">
            <a:avLst>
              <a:gd name="adj" fmla="val 38387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" sz="27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References &amp; Acknowledgments</a:t>
            </a:r>
            <a:endParaRPr lang="en-US" sz="2700"/>
          </a:p>
        </p:txBody>
      </p:sp>
      <p:sp>
        <p:nvSpPr>
          <p:cNvPr id="5" name="Text 2"/>
          <p:cNvSpPr/>
          <p:nvPr/>
        </p:nvSpPr>
        <p:spPr>
          <a:xfrm>
            <a:off x="914400" y="1554482"/>
            <a:ext cx="7315200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64"/>
              </a:lnSpc>
              <a:buNone/>
            </a:pPr>
            <a:r>
              <a:rPr lang="en" sz="1260" b="1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8D Problem Solving</a:t>
            </a:r>
            <a:endParaRPr lang="en-US" sz="1260"/>
          </a:p>
          <a:p>
            <a:pPr marL="0" indent="0">
              <a:lnSpc>
                <a:spcPts val="1764"/>
              </a:lnSpc>
              <a:buNone/>
            </a:pPr>
            <a:r>
              <a:rPr lang="en-US" sz="126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60"/>
          </a:p>
          <a:p>
            <a:pPr marL="0" indent="0">
              <a:lnSpc>
                <a:spcPts val="1764"/>
              </a:lnSpc>
              <a:buNone/>
            </a:pPr>
            <a:r>
              <a:rPr lang="en" sz="126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 Motor Company Methodology</a:t>
            </a:r>
            <a:endParaRPr lang="en-US" sz="1260"/>
          </a:p>
        </p:txBody>
      </p:sp>
      <p:sp>
        <p:nvSpPr>
          <p:cNvPr id="6" name="Text 3"/>
          <p:cNvSpPr/>
          <p:nvPr/>
        </p:nvSpPr>
        <p:spPr>
          <a:xfrm>
            <a:off x="914400" y="2154794"/>
            <a:ext cx="7315200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64"/>
              </a:lnSpc>
              <a:buNone/>
            </a:pPr>
            <a:r>
              <a:rPr lang="en" sz="1260" b="1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Six Sigma Green Belt</a:t>
            </a:r>
            <a:endParaRPr lang="en-US" sz="1260"/>
          </a:p>
          <a:p>
            <a:pPr marL="0" indent="0">
              <a:lnSpc>
                <a:spcPts val="1764"/>
              </a:lnSpc>
              <a:buNone/>
            </a:pPr>
            <a:r>
              <a:rPr lang="en-US" sz="126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60"/>
          </a:p>
          <a:p>
            <a:pPr marL="0" indent="0">
              <a:lnSpc>
                <a:spcPts val="1764"/>
              </a:lnSpc>
              <a:buNone/>
            </a:pPr>
            <a:r>
              <a:rPr lang="en" sz="126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Sandholm Associates AB</a:t>
            </a:r>
            <a:endParaRPr lang="en-US" sz="1260"/>
          </a:p>
        </p:txBody>
      </p:sp>
      <p:sp>
        <p:nvSpPr>
          <p:cNvPr id="7" name="Text 4"/>
          <p:cNvSpPr/>
          <p:nvPr/>
        </p:nvSpPr>
        <p:spPr>
          <a:xfrm>
            <a:off x="914400" y="2755106"/>
            <a:ext cx="7315200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64"/>
              </a:lnSpc>
              <a:buNone/>
            </a:pPr>
            <a:r>
              <a:rPr lang="en" sz="1260" b="1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Pareto Analysis</a:t>
            </a:r>
            <a:endParaRPr lang="en-US" sz="1260"/>
          </a:p>
          <a:p>
            <a:pPr marL="0" indent="0">
              <a:lnSpc>
                <a:spcPts val="1764"/>
              </a:lnSpc>
              <a:buNone/>
            </a:pPr>
            <a:r>
              <a:rPr lang="en-US" sz="126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60"/>
          </a:p>
          <a:p>
            <a:pPr marL="0" indent="0">
              <a:lnSpc>
                <a:spcPts val="1764"/>
              </a:lnSpc>
              <a:buNone/>
            </a:pPr>
            <a:r>
              <a:rPr lang="en" sz="126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Vilfredo Pareto (80/20 Principle)</a:t>
            </a:r>
            <a:endParaRPr lang="en-US" sz="1260"/>
          </a:p>
        </p:txBody>
      </p:sp>
      <p:sp>
        <p:nvSpPr>
          <p:cNvPr id="8" name="Text 5"/>
          <p:cNvSpPr/>
          <p:nvPr/>
        </p:nvSpPr>
        <p:spPr>
          <a:xfrm>
            <a:off x="914400" y="3355418"/>
            <a:ext cx="7315200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64"/>
              </a:lnSpc>
              <a:buNone/>
            </a:pPr>
            <a:r>
              <a:rPr lang="en" sz="126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Visualization Examples</a:t>
            </a:r>
            <a:endParaRPr lang="en-US" sz="1260" dirty="0"/>
          </a:p>
          <a:p>
            <a:pPr marL="0" indent="0">
              <a:lnSpc>
                <a:spcPts val="1764"/>
              </a:lnSpc>
              <a:buNone/>
            </a:pPr>
            <a:r>
              <a:rPr lang="en-US" sz="12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60" dirty="0"/>
          </a:p>
          <a:p>
            <a:pPr marL="0" indent="0">
              <a:lnSpc>
                <a:spcPts val="1764"/>
              </a:lnSpc>
              <a:buNone/>
            </a:pPr>
            <a:r>
              <a:rPr lang="en" sz="12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MoreSteam, Tableau Public Community</a:t>
            </a:r>
            <a:endParaRPr lang="en-US" sz="12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11623" y="2716532"/>
            <a:ext cx="4120634" cy="1059180"/>
          </a:xfrm>
          <a:prstGeom prst="roundRect">
            <a:avLst>
              <a:gd name="adj" fmla="val 10359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163374" y="1367791"/>
            <a:ext cx="28172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" sz="3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</a:t>
            </a:r>
            <a:endParaRPr lang="en-US" sz="3600"/>
          </a:p>
        </p:txBody>
      </p:sp>
      <p:sp>
        <p:nvSpPr>
          <p:cNvPr id="5" name="Text 2"/>
          <p:cNvSpPr/>
          <p:nvPr/>
        </p:nvSpPr>
        <p:spPr>
          <a:xfrm>
            <a:off x="4193825" y="2145032"/>
            <a:ext cx="10265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" sz="1500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781313" y="3021332"/>
            <a:ext cx="358125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</a:pPr>
            <a:r>
              <a:rPr lang="en" sz="10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GitHub: </a:t>
            </a:r>
            <a:r>
              <a:rPr lang="pl-PL" sz="10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https://github.com/LoopedGiraffe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781313" y="3284223"/>
            <a:ext cx="358125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pl-PL" sz="10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loopedgiraffe@gmail.com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Pokaz na ekranie (16:9)</PresentationFormat>
  <Paragraphs>119</Paragraphs>
  <Slides>13</Slides>
  <Notes>13</Notes>
  <HiddenSlides>0</HiddenSlides>
  <MMClips>0</MMClips>
  <ScaleCrop>false</ScaleCrop>
  <HeadingPairs>
    <vt:vector size="6" baseType="variant">
      <vt:variant>
        <vt:lpstr>Używane czcionki</vt:lpstr>
      </vt:variant>
      <vt:variant>
        <vt:i4>1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Anna Grzybowska</dc:creator>
  <cp:lastModifiedBy>Anna Grzybowska</cp:lastModifiedBy>
  <cp:revision>1</cp:revision>
  <dcterms:modified xsi:type="dcterms:W3CDTF">2026-02-07T21:37:06Z</dcterms:modified>
</cp:coreProperties>
</file>